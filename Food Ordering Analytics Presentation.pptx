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Space Grotesk"/>
      <ns0:bold ns1:id="rIdFont16"/>
    </ns0:embeddedFon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d1641dc5-05ee-4ccd-bf10-852a706c221c.fntdata" /><ns0:Relationship Id="rIdFont17" Type="http://schemas.openxmlformats.org/officeDocument/2006/relationships/font" Target="fonts/fcccc1be-ebae-4989-b0b4-2b436aa86f3f.fntdata" /><ns0:Relationship Id="rIdFont18" Type="http://schemas.openxmlformats.org/officeDocument/2006/relationships/font" Target="fonts/a4112150-b9b4-4650-b4e7-baef343c005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134719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685032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97316"/>
                </a:solidFill>
                <a:latin typeface="Inter"/>
              </a:rPr>
              <a:t>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37457"/>
            <a:ext cx="5700712" cy="2011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Food Ordering Behaviour &amp; Consumer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77469"/>
            <a:ext cx="4857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Transforming raw transactions into actionable business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690" y="609600"/>
            <a:ext cx="6583709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71762"/>
            <a:ext cx="219075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52812"/>
            <a:ext cx="219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33862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14912"/>
            <a:ext cx="23812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343025"/>
            <a:ext cx="4228497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The Business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2619375"/>
            <a:ext cx="365566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Predict Demand: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Anticipate peak operational periods.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400425"/>
            <a:ext cx="365566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Map Regions: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Identify regional cuisine preferences.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81475"/>
            <a:ext cx="363661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Target Demographics: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Align restaurant tiers with age groups.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962525"/>
            <a:ext cx="363661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Monitor Logistics: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Track delivery fulfillment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4789"/>
            <a:ext cx="3454449" cy="2184796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74789"/>
            <a:ext cx="3454449" cy="2184796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74789"/>
            <a:ext cx="3454449" cy="2184796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455789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49" y="3455789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99" y="3455789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09600"/>
            <a:ext cx="12954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Data Preparation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1247775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Processing the core dataset for visualization.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989189"/>
            <a:ext cx="353384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50,000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398764"/>
            <a:ext cx="27876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Historical order values and operational timing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849" y="3989189"/>
            <a:ext cx="353384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849" y="4398764"/>
            <a:ext cx="27876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Custom age bins and delivery time intervals.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99" y="3989189"/>
            <a:ext cx="353384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Quality 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99" y="4398764"/>
            <a:ext cx="27876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Strict type casting and core baseline aggregations.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2286000"/>
            <a:ext cx="12954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Space Grotesk"/>
              </a:rPr>
              <a:t>PLATFORM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028" y="3276600"/>
            <a:ext cx="214312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Space Grotesk"/>
              </a:rPr>
              <a:t>50K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6028" y="4343400"/>
            <a:ext cx="2143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Total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4840" y="3276600"/>
            <a:ext cx="4214812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284C7"/>
                </a:solidFill>
                <a:latin typeface="Space Grotesk"/>
              </a:rPr>
              <a:t>₹2.73Cr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4840" y="4343400"/>
            <a:ext cx="4214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3276600"/>
            <a:ext cx="2821781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Space Grotesk"/>
              </a:rPr>
              <a:t>₹548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7475" y="4343400"/>
            <a:ext cx="2821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Avg Order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5671" y="3276600"/>
            <a:ext cx="242887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Space Grotesk"/>
              </a:rPr>
              <a:t>2.99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5671" y="4343400"/>
            <a:ext cx="2428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Average 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9600"/>
            <a:ext cx="5491162" cy="563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1237" y="609600"/>
            <a:ext cx="9525" cy="56388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659457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Regional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609600"/>
            <a:ext cx="56340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Demographic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71600"/>
            <a:ext cx="65945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Market Leaders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95450"/>
            <a:ext cx="5119687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Mumbai and Pune dominate total order volume.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94371"/>
            <a:ext cx="65945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Peak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18221"/>
            <a:ext cx="5119687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Desserts and fast food peak significantly on weekends.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7143"/>
            <a:ext cx="65945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Consistent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40993"/>
            <a:ext cx="5119687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Biryani order volume remains universally high everywhere.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1371600"/>
            <a:ext cx="56340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Core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1695450"/>
            <a:ext cx="5119687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20s and 30s cohorts drive mid-range restaurant sales.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2594371"/>
            <a:ext cx="56340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Premium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2918221"/>
            <a:ext cx="5119687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Premium tier orders scale upward with older age groups.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962" y="3817143"/>
            <a:ext cx="56340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Social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7962" y="4140993"/>
            <a:ext cx="5119687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Time of day dictates volume far more than party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2143125"/>
            <a:ext cx="7620000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3467100"/>
            <a:ext cx="7620000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4791075"/>
            <a:ext cx="7620000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143125"/>
            <a:ext cx="5715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3467100"/>
            <a:ext cx="5715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4791075"/>
            <a:ext cx="5715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2500312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50" y="3824287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950" y="5148262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83185" y="1047750"/>
            <a:ext cx="502562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Operational Realities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3750" y="2371725"/>
            <a:ext cx="77009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Space Grotesk"/>
              </a:rPr>
              <a:t>Baseline 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3750" y="2657475"/>
            <a:ext cx="7334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Consistent 2.99 average rating across all meal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3750" y="3695700"/>
            <a:ext cx="76134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Space Grotesk"/>
              </a:rPr>
              <a:t>Delivery Curves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3750" y="3981450"/>
            <a:ext cx="7250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Standard bell curve highlights outlier delay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3750" y="5019675"/>
            <a:ext cx="821352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Space Grotesk"/>
              </a:rPr>
              <a:t>Menu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3750" y="5305425"/>
            <a:ext cx="78224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Budget segment requires aggressive fast food inventory.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765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29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814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6339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043112"/>
            <a:ext cx="72009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8FAFC"/>
                </a:solidFill>
                <a:latin typeface="Space Grotesk"/>
              </a:rPr>
              <a:t>Flask Web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76562"/>
            <a:ext cx="68580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Inter"/>
              </a:rPr>
              <a:t>Lightweight Python backend routing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29012"/>
            <a:ext cx="68580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Inter"/>
              </a:rPr>
              <a:t>Tableau Embedding API secure components.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81462"/>
            <a:ext cx="68580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Inter"/>
              </a:rPr>
              <a:t>Zero-install direct stakeholder web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33912"/>
            <a:ext cx="68580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Inter"/>
              </a:rPr>
              <a:t>Fully interactive HTML portal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368105"/>
            <a:ext cx="28575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51757" y="2261294"/>
            <a:ext cx="7888485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Space Grotesk"/>
              </a:rPr>
              <a:t>Data-Driven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270944"/>
            <a:ext cx="7143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Translating raw historical transactions into targeted, actionable business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7231" y="438239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Vansh Jaisinghani • Data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42987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09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https://media.istockphoto.com/id/1159848977/vector/dashboard-ui-modern-presentation-with-data-graphs-and-hud-diagrams-clean-and-simple-app.jpg?s=1024x1024&amp;w=is&amp;k=20&amp;c=dkB3MThs0OlnLe3BzYOF2k2OTf3CEI3lTAQSEfLuM-U=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36207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90712"/>
            <a:ext cx="3512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https://en.pimg.jp/085/384/776/1/85384776.jpg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90737"/>
            <a:ext cx="2393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tw.pixtastock.com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62237"/>
            <a:ext cx="6846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https://cdn.educba.com/academy/wp-content/uploads/2019/10/Abstract-Class-in-Python.jpg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62262"/>
            <a:ext cx="2381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www.educba.com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